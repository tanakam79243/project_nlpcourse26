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8"/>
  </p:notesMasterIdLst>
  <p:sldIdLst>
    <p:sldId id="260" r:id="rId2"/>
    <p:sldId id="263" r:id="rId3"/>
    <p:sldId id="275" r:id="rId4"/>
    <p:sldId id="261" r:id="rId5"/>
    <p:sldId id="264" r:id="rId6"/>
    <p:sldId id="265" r:id="rId7"/>
    <p:sldId id="262" r:id="rId8"/>
    <p:sldId id="266" r:id="rId9"/>
    <p:sldId id="267" r:id="rId10"/>
    <p:sldId id="268" r:id="rId11"/>
    <p:sldId id="269" r:id="rId12"/>
    <p:sldId id="270" r:id="rId13"/>
    <p:sldId id="273" r:id="rId14"/>
    <p:sldId id="272" r:id="rId15"/>
    <p:sldId id="274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1613"/>
    <a:srgbClr val="476EE1"/>
    <a:srgbClr val="4A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24FA3-18AF-2E49-BAAD-E5DD18D93238}" v="14" dt="2026-01-15T21:18:39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10" autoAdjust="0"/>
    <p:restoredTop sz="96234" autoAdjust="0"/>
  </p:normalViewPr>
  <p:slideViewPr>
    <p:cSldViewPr snapToGrid="0" snapToObjects="1">
      <p:cViewPr varScale="1">
        <p:scale>
          <a:sx n="123" d="100"/>
          <a:sy n="123" d="100"/>
        </p:scale>
        <p:origin x="2152" y="184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321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44741-98FA-D246-81DB-5CCA3A4C76F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88DE0-09FA-0042-BC4F-C07494E5A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08" y="-233680"/>
            <a:ext cx="8300720" cy="1143000"/>
          </a:xfrm>
        </p:spPr>
        <p:txBody>
          <a:bodyPr/>
          <a:lstStyle>
            <a:lvl1pPr algn="l">
              <a:defRPr sz="2400" b="0" i="0">
                <a:solidFill>
                  <a:srgbClr val="761613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748" y="1745974"/>
            <a:ext cx="8229600" cy="2620963"/>
          </a:xfrm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  <a:lvl2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2pPr>
            <a:lvl3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3pPr>
            <a:lvl4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4pPr>
            <a:lvl5pPr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3B09E-9F65-4899-C64B-79B22C5E4C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4573"/>
            <a:ext cx="9144000" cy="316388"/>
          </a:xfrm>
          <a:prstGeom prst="rect">
            <a:avLst/>
          </a:prstGeom>
        </p:spPr>
      </p:pic>
      <p:pic>
        <p:nvPicPr>
          <p:cNvPr id="10" name="Content Placeholder 11" descr="A red and black cube&#10;&#10;Description automatically generated">
            <a:extLst>
              <a:ext uri="{FF2B5EF4-FFF2-40B4-BE49-F238E27FC236}">
                <a16:creationId xmlns:a16="http://schemas.microsoft.com/office/drawing/2014/main" id="{5B349350-96C4-539C-439A-2BC21D696E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534400" y="6427946"/>
            <a:ext cx="497960" cy="348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18466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6080" y="122238"/>
            <a:ext cx="830072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6080" y="1603734"/>
            <a:ext cx="8229600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761613"/>
          </a:solidFill>
          <a:latin typeface="Avenir Book" panose="02000503020000020003" pitchFamily="2" charset="0"/>
          <a:ea typeface="ＭＳ Ｐゴシック" charset="0"/>
          <a:cs typeface="Avenir Book" panose="02000503020000020003" pitchFamily="2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FFFF66"/>
          </a:solidFill>
          <a:latin typeface="Myriad Pro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Avenir Book" panose="02000503020000020003" pitchFamily="2" charset="0"/>
          <a:ea typeface="ＭＳ Ｐゴシック" charset="0"/>
          <a:cs typeface="Avenir Book" panose="02000503020000020003" pitchFamily="2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accent3">
              <a:lumMod val="60000"/>
              <a:lumOff val="40000"/>
            </a:schemeClr>
          </a:solidFill>
          <a:latin typeface="Avenir Book" panose="02000503020000020003" pitchFamily="2" charset="0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illy-coglab.com/data" TargetMode="External"/><Relationship Id="rId2" Type="http://schemas.openxmlformats.org/officeDocument/2006/relationships/hyperlink" Target="https://direct.mit.edu/opmi/article/doi/10.1162/OPMI.a.315/13472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nglish-corpora.org/" TargetMode="External"/><Relationship Id="rId5" Type="http://schemas.openxmlformats.org/officeDocument/2006/relationships/hyperlink" Target="https://www.gutenberg.org/" TargetMode="External"/><Relationship Id="rId4" Type="http://schemas.openxmlformats.org/officeDocument/2006/relationships/hyperlink" Target="https://huggingface.co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google.com/ngrams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r.tidyverse.org/" TargetMode="External"/><Relationship Id="rId2" Type="http://schemas.openxmlformats.org/officeDocument/2006/relationships/hyperlink" Target="https://www.youtube.com/watch?v=3toJ2LhvEfw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6700" y="2676361"/>
            <a:ext cx="861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bg1"/>
                </a:solidFill>
                <a:latin typeface="+mn-lt"/>
              </a:defRPr>
            </a:lvl9pPr>
          </a:lstStyle>
          <a:p>
            <a:pPr algn="ctr" eaLnBrk="1" fontAlgn="auto" hangingPunct="1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761613"/>
                </a:solidFill>
                <a:latin typeface="Avenir"/>
                <a:ea typeface="+mn-ea"/>
                <a:cs typeface="Avenir"/>
              </a:rPr>
              <a:t>NLP: Lecture II</a:t>
            </a:r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3B7A8A6A-E8EF-8177-BC71-D83EF8BDF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429723"/>
            <a:ext cx="8229600" cy="1187457"/>
          </a:xfr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5ADCA2F-A731-A3BD-10A8-A19AA88B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9637"/>
            <a:ext cx="9144000" cy="28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9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8973-A4A5-A17E-4FD3-0603E300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75A3-F391-0112-4EF6-06BB7F19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558937"/>
            <a:ext cx="8229600" cy="4561308"/>
          </a:xfrm>
        </p:spPr>
        <p:txBody>
          <a:bodyPr/>
          <a:lstStyle/>
          <a:p>
            <a:r>
              <a:rPr lang="en-US" dirty="0"/>
              <a:t>Don’t confuse/conflate speech and language</a:t>
            </a:r>
          </a:p>
          <a:p>
            <a:pPr lvl="1"/>
            <a:r>
              <a:rPr lang="en-US" dirty="0"/>
              <a:t>Speech is an oral communication modality linked to articulation and motor control (e.g., voice, prosody)</a:t>
            </a:r>
          </a:p>
          <a:p>
            <a:pPr lvl="1"/>
            <a:endParaRPr lang="en-US" dirty="0"/>
          </a:p>
          <a:p>
            <a:r>
              <a:rPr lang="en-US" dirty="0"/>
              <a:t>Get into the habit(s) of:</a:t>
            </a:r>
          </a:p>
          <a:p>
            <a:pPr lvl="1"/>
            <a:r>
              <a:rPr lang="en-US" dirty="0"/>
              <a:t>Annotating your code!</a:t>
            </a:r>
          </a:p>
          <a:p>
            <a:pPr lvl="1"/>
            <a:r>
              <a:rPr lang="en-US" dirty="0"/>
              <a:t>Being intentional about your file structure and naming conventions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cloud drive not </a:t>
            </a:r>
            <a:r>
              <a:rPr lang="en-US">
                <a:solidFill>
                  <a:srgbClr val="C00000"/>
                </a:solidFill>
              </a:rPr>
              <a:t>local drive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Using open software and open science principles</a:t>
            </a:r>
          </a:p>
          <a:p>
            <a:pPr lvl="2"/>
            <a:r>
              <a:rPr lang="en-US" dirty="0"/>
              <a:t>Writing tutorials, supplying code snippets</a:t>
            </a:r>
          </a:p>
          <a:p>
            <a:pPr lvl="1"/>
            <a:r>
              <a:rPr lang="en-US" dirty="0"/>
              <a:t>Creating R project files for each text mining project</a:t>
            </a:r>
          </a:p>
        </p:txBody>
      </p:sp>
    </p:spTree>
    <p:extLst>
      <p:ext uri="{BB962C8B-B14F-4D97-AF65-F5344CB8AC3E}">
        <p14:creationId xmlns:p14="http://schemas.microsoft.com/office/powerpoint/2010/main" val="342104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8F8D-5B73-8815-F4DA-C0E5B7EE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for Class 2!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5B68F-E2FD-9031-F859-946EAAC28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a code snippet cheat sheet. You will add five code snippets every week until the end of the semester</a:t>
            </a:r>
          </a:p>
          <a:p>
            <a:endParaRPr lang="en-US" dirty="0"/>
          </a:p>
          <a:p>
            <a:r>
              <a:rPr lang="en-US" dirty="0"/>
              <a:t>Create your own simple cleaning function</a:t>
            </a:r>
          </a:p>
          <a:p>
            <a:pPr lvl="1"/>
            <a:r>
              <a:rPr lang="en-US" dirty="0"/>
              <a:t>Apply to five texts</a:t>
            </a:r>
          </a:p>
          <a:p>
            <a:pPr lvl="1"/>
            <a:r>
              <a:rPr lang="en-US" dirty="0"/>
              <a:t>Generate word counts for each text</a:t>
            </a:r>
          </a:p>
        </p:txBody>
      </p:sp>
    </p:spTree>
    <p:extLst>
      <p:ext uri="{BB962C8B-B14F-4D97-AF65-F5344CB8AC3E}">
        <p14:creationId xmlns:p14="http://schemas.microsoft.com/office/powerpoint/2010/main" val="32321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59BF-AD98-69ED-0D99-2C0E1B7C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91440"/>
            <a:ext cx="8319052" cy="833120"/>
          </a:xfr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319052"/>
                      <a:gd name="connsiteY0" fmla="*/ 0 h 970598"/>
                      <a:gd name="connsiteX1" fmla="*/ 8319052 w 8319052"/>
                      <a:gd name="connsiteY1" fmla="*/ 0 h 970598"/>
                      <a:gd name="connsiteX2" fmla="*/ 8319052 w 8319052"/>
                      <a:gd name="connsiteY2" fmla="*/ 970598 h 970598"/>
                      <a:gd name="connsiteX3" fmla="*/ 0 w 8319052"/>
                      <a:gd name="connsiteY3" fmla="*/ 970598 h 970598"/>
                      <a:gd name="connsiteX4" fmla="*/ 0 w 8319052"/>
                      <a:gd name="connsiteY4" fmla="*/ 0 h 970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19052" h="970598" extrusionOk="0">
                        <a:moveTo>
                          <a:pt x="0" y="0"/>
                        </a:moveTo>
                        <a:cubicBezTo>
                          <a:pt x="2499354" y="118645"/>
                          <a:pt x="5564634" y="116012"/>
                          <a:pt x="8319052" y="0"/>
                        </a:cubicBezTo>
                        <a:cubicBezTo>
                          <a:pt x="8322443" y="148633"/>
                          <a:pt x="8253533" y="696633"/>
                          <a:pt x="8319052" y="970598"/>
                        </a:cubicBezTo>
                        <a:cubicBezTo>
                          <a:pt x="7221863" y="1105198"/>
                          <a:pt x="3373341" y="813402"/>
                          <a:pt x="0" y="970598"/>
                        </a:cubicBezTo>
                        <a:cubicBezTo>
                          <a:pt x="-54707" y="514557"/>
                          <a:pt x="-50697" y="4185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872763-B96E-99EE-9B7A-24C58BE82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22" y="1455028"/>
            <a:ext cx="8229600" cy="5402972"/>
          </a:xfrm>
        </p:spPr>
        <p:txBody>
          <a:bodyPr/>
          <a:lstStyle/>
          <a:p>
            <a:r>
              <a:rPr lang="en-US" dirty="0"/>
              <a:t>Tidy text format</a:t>
            </a:r>
          </a:p>
          <a:p>
            <a:pPr lvl="1"/>
            <a:r>
              <a:rPr lang="en-US" dirty="0"/>
              <a:t>Each variable is a column, Each </a:t>
            </a:r>
            <a:r>
              <a:rPr lang="en-US" dirty="0">
                <a:solidFill>
                  <a:srgbClr val="C00000"/>
                </a:solidFill>
              </a:rPr>
              <a:t>observation </a:t>
            </a:r>
            <a:r>
              <a:rPr lang="en-US" dirty="0"/>
              <a:t>is a row</a:t>
            </a:r>
          </a:p>
          <a:p>
            <a:pPr lvl="1"/>
            <a:endParaRPr lang="en-US" dirty="0"/>
          </a:p>
          <a:p>
            <a:r>
              <a:rPr lang="en-US" dirty="0"/>
              <a:t>Tokens, types, observations</a:t>
            </a:r>
          </a:p>
          <a:p>
            <a:pPr lvl="1"/>
            <a:r>
              <a:rPr lang="en-US" dirty="0"/>
              <a:t>‘Observation’ underspecified term in NLP </a:t>
            </a:r>
          </a:p>
          <a:p>
            <a:pPr lvl="2"/>
            <a:r>
              <a:rPr lang="en-US" dirty="0"/>
              <a:t>document, sentence, phrase, word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Token:</a:t>
            </a:r>
            <a:r>
              <a:rPr lang="en-US" dirty="0"/>
              <a:t> a unique/discrete unit of interest</a:t>
            </a:r>
          </a:p>
          <a:p>
            <a:pPr lvl="2"/>
            <a:r>
              <a:rPr lang="en-US" dirty="0"/>
              <a:t>Tokenization is parsing (splitting) a document or corpus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: all tokens in a given set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TTR (type token ratio):  </a:t>
            </a:r>
            <a:r>
              <a:rPr lang="en-US" dirty="0"/>
              <a:t>What does this tell us?</a:t>
            </a:r>
          </a:p>
          <a:p>
            <a:pPr lvl="2"/>
            <a:r>
              <a:rPr lang="en-US" dirty="0"/>
              <a:t>unique words divided by total number of words</a:t>
            </a:r>
          </a:p>
          <a:p>
            <a:pPr lvl="2"/>
            <a:r>
              <a:rPr lang="en-US" dirty="0"/>
              <a:t>E.g., Alzheimer’s Disease biomarker low TTR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MATTR (moving average TTR):  </a:t>
            </a:r>
            <a:r>
              <a:rPr lang="en-US" dirty="0"/>
              <a:t>Snapshots iteratively</a:t>
            </a:r>
          </a:p>
          <a:p>
            <a:pPr lvl="2"/>
            <a:r>
              <a:rPr lang="en-US" dirty="0"/>
              <a:t>windows over a language sample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5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F30E-4F52-1E8F-062E-BD7D2A24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8" y="0"/>
            <a:ext cx="8300720" cy="1143000"/>
          </a:xfrm>
        </p:spPr>
        <p:txBody>
          <a:bodyPr/>
          <a:lstStyle/>
          <a:p>
            <a:r>
              <a:rPr lang="en-US" dirty="0"/>
              <a:t>More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F21-E798-ED7E-ACF6-CC8D88DD0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28" y="1288774"/>
            <a:ext cx="8229600" cy="2620963"/>
          </a:xfrm>
        </p:spPr>
        <p:txBody>
          <a:bodyPr/>
          <a:lstStyle/>
          <a:p>
            <a:r>
              <a:rPr lang="en-US" dirty="0"/>
              <a:t>Tagging </a:t>
            </a:r>
          </a:p>
          <a:p>
            <a:pPr lvl="1"/>
            <a:r>
              <a:rPr lang="en-US" dirty="0"/>
              <a:t>Tokens are tagged </a:t>
            </a:r>
          </a:p>
          <a:p>
            <a:pPr lvl="1"/>
            <a:r>
              <a:rPr lang="en-US" dirty="0"/>
              <a:t>POS (part-of-speech) tagging: Grammatical roles, etc.</a:t>
            </a:r>
          </a:p>
          <a:p>
            <a:endParaRPr lang="en-US" dirty="0"/>
          </a:p>
          <a:p>
            <a:r>
              <a:rPr lang="en-US" dirty="0"/>
              <a:t>Structured vs. unstructured text samples</a:t>
            </a:r>
          </a:p>
          <a:p>
            <a:pPr lvl="1"/>
            <a:r>
              <a:rPr lang="en-US" dirty="0"/>
              <a:t>Structured: parsed, headers (e.g., HTML documents)</a:t>
            </a:r>
          </a:p>
          <a:p>
            <a:pPr lvl="1"/>
            <a:r>
              <a:rPr lang="en-US" dirty="0"/>
              <a:t>Unstructured:  no headers, markup, etc. </a:t>
            </a:r>
          </a:p>
          <a:p>
            <a:pPr lvl="1"/>
            <a:endParaRPr lang="en-US" dirty="0"/>
          </a:p>
          <a:p>
            <a:r>
              <a:rPr lang="en-US" dirty="0"/>
              <a:t>Corpus (pl. </a:t>
            </a:r>
            <a:r>
              <a:rPr lang="en-US" i="1" dirty="0"/>
              <a:t>corpora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Large structured sample of text</a:t>
            </a:r>
          </a:p>
          <a:p>
            <a:pPr lvl="2"/>
            <a:r>
              <a:rPr lang="en-US" dirty="0"/>
              <a:t>General corpus (multiple genres) </a:t>
            </a:r>
          </a:p>
          <a:p>
            <a:pPr lvl="2"/>
            <a:r>
              <a:rPr lang="en-US" dirty="0"/>
              <a:t>Corpus of Contemporary American English (</a:t>
            </a:r>
            <a:r>
              <a:rPr lang="en-US" dirty="0" err="1"/>
              <a:t>CoCA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962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1A5B-F8EE-F759-3B96-700B05DB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28" y="0"/>
            <a:ext cx="8300720" cy="1143000"/>
          </a:xfrm>
        </p:spPr>
        <p:txBody>
          <a:bodyPr/>
          <a:lstStyle/>
          <a:p>
            <a:r>
              <a:rPr lang="en-US" dirty="0"/>
              <a:t>Corpora and where to find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EF19-0814-26CE-9D35-A53900FF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48" y="1745974"/>
            <a:ext cx="8229600" cy="4862644"/>
          </a:xfrm>
        </p:spPr>
        <p:txBody>
          <a:bodyPr/>
          <a:lstStyle/>
          <a:p>
            <a:r>
              <a:rPr lang="en-US" dirty="0"/>
              <a:t>More corpora</a:t>
            </a:r>
          </a:p>
          <a:p>
            <a:pPr lvl="1"/>
            <a:r>
              <a:rPr lang="en-US" dirty="0"/>
              <a:t>Specialized corpora</a:t>
            </a:r>
          </a:p>
          <a:p>
            <a:pPr lvl="2"/>
            <a:r>
              <a:rPr lang="en-US" dirty="0"/>
              <a:t>Conspiracy Theories, Rare Diseases</a:t>
            </a:r>
          </a:p>
          <a:p>
            <a:pPr lvl="1"/>
            <a:r>
              <a:rPr lang="en-US" dirty="0"/>
              <a:t>Diachronic Corpora (historical linguistics)</a:t>
            </a:r>
          </a:p>
          <a:p>
            <a:pPr lvl="2"/>
            <a:r>
              <a:rPr lang="en-US" dirty="0"/>
              <a:t>Language samples across time</a:t>
            </a:r>
          </a:p>
          <a:p>
            <a:pPr lvl="2"/>
            <a:r>
              <a:rPr lang="en-US" dirty="0">
                <a:hlinkClick r:id="rId2"/>
              </a:rPr>
              <a:t>Link to a fascinating example of changing word embeddings by age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Finding corpora</a:t>
            </a:r>
          </a:p>
          <a:p>
            <a:pPr lvl="1"/>
            <a:r>
              <a:rPr lang="en-US" dirty="0">
                <a:hlinkClick r:id="rId3"/>
              </a:rPr>
              <a:t>Concepts and Cognition Lab Database Page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Hugging Face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Project Gutenberg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English Corpora Dot Org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0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B278-53FD-13D9-EB37-04FCC822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N-grams</a:t>
            </a:r>
          </a:p>
          <a:p>
            <a:pPr lvl="1"/>
            <a:r>
              <a:rPr lang="en-US" dirty="0"/>
              <a:t>N-elements within a continuous language sample</a:t>
            </a:r>
          </a:p>
          <a:p>
            <a:pPr lvl="2"/>
            <a:r>
              <a:rPr lang="en-US" dirty="0"/>
              <a:t>Unigrams, bigrams</a:t>
            </a:r>
          </a:p>
          <a:p>
            <a:pPr lvl="1"/>
            <a:r>
              <a:rPr lang="en-US" dirty="0">
                <a:hlinkClick r:id="rId2"/>
              </a:rPr>
              <a:t>Google n-gram viewer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Word vs. corpus frequency</a:t>
            </a:r>
          </a:p>
          <a:p>
            <a:pPr lvl="1"/>
            <a:r>
              <a:rPr lang="en-US" dirty="0"/>
              <a:t>Typically normalized to X-per-million, log transformed</a:t>
            </a:r>
          </a:p>
          <a:p>
            <a:pPr lvl="1"/>
            <a:r>
              <a:rPr lang="en-US" dirty="0"/>
              <a:t>Word frequency in almost any corpus follows a Zipf-distribution</a:t>
            </a:r>
          </a:p>
          <a:p>
            <a:pPr lvl="2"/>
            <a:r>
              <a:rPr lang="en-US" dirty="0"/>
              <a:t>E.g., ‘the’ is about 7% of the words in any corpus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B2B4A2-71E5-F00C-13CB-C1DD7D2A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91440"/>
            <a:ext cx="8319052" cy="833120"/>
          </a:xfr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319052"/>
                      <a:gd name="connsiteY0" fmla="*/ 0 h 970598"/>
                      <a:gd name="connsiteX1" fmla="*/ 8319052 w 8319052"/>
                      <a:gd name="connsiteY1" fmla="*/ 0 h 970598"/>
                      <a:gd name="connsiteX2" fmla="*/ 8319052 w 8319052"/>
                      <a:gd name="connsiteY2" fmla="*/ 970598 h 970598"/>
                      <a:gd name="connsiteX3" fmla="*/ 0 w 8319052"/>
                      <a:gd name="connsiteY3" fmla="*/ 970598 h 970598"/>
                      <a:gd name="connsiteX4" fmla="*/ 0 w 8319052"/>
                      <a:gd name="connsiteY4" fmla="*/ 0 h 970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319052" h="970598" extrusionOk="0">
                        <a:moveTo>
                          <a:pt x="0" y="0"/>
                        </a:moveTo>
                        <a:cubicBezTo>
                          <a:pt x="2499354" y="118645"/>
                          <a:pt x="5564634" y="116012"/>
                          <a:pt x="8319052" y="0"/>
                        </a:cubicBezTo>
                        <a:cubicBezTo>
                          <a:pt x="8322443" y="148633"/>
                          <a:pt x="8253533" y="696633"/>
                          <a:pt x="8319052" y="970598"/>
                        </a:cubicBezTo>
                        <a:cubicBezTo>
                          <a:pt x="7221863" y="1105198"/>
                          <a:pt x="3373341" y="813402"/>
                          <a:pt x="0" y="970598"/>
                        </a:cubicBezTo>
                        <a:cubicBezTo>
                          <a:pt x="-54707" y="514557"/>
                          <a:pt x="-50697" y="4185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More Terminology</a:t>
            </a:r>
          </a:p>
        </p:txBody>
      </p:sp>
    </p:spTree>
    <p:extLst>
      <p:ext uri="{BB962C8B-B14F-4D97-AF65-F5344CB8AC3E}">
        <p14:creationId xmlns:p14="http://schemas.microsoft.com/office/powerpoint/2010/main" val="22887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9B13-BDAD-1B41-165F-14DB51057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28" y="0"/>
            <a:ext cx="8300720" cy="1143000"/>
          </a:xfrm>
        </p:spPr>
        <p:txBody>
          <a:bodyPr/>
          <a:lstStyle/>
          <a:p>
            <a:r>
              <a:rPr lang="en-US" dirty="0"/>
              <a:t>Document Term Matrix (DTM) or Feature Matrix (DFM)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EF5C-ABE0-E2CD-4531-5E8845A1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48" y="1745975"/>
            <a:ext cx="8229600" cy="1932408"/>
          </a:xfrm>
        </p:spPr>
        <p:txBody>
          <a:bodyPr/>
          <a:lstStyle/>
          <a:p>
            <a:r>
              <a:rPr lang="en-US" dirty="0"/>
              <a:t>Let’s consider two language samples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To transform this sample into a DTM involves tokenizing and counting each unique token…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background with pink text&#10;&#10;AI-generated content may be incorrect.">
            <a:extLst>
              <a:ext uri="{FF2B5EF4-FFF2-40B4-BE49-F238E27FC236}">
                <a16:creationId xmlns:a16="http://schemas.microsoft.com/office/drawing/2014/main" id="{65624F83-6857-E908-5CCF-8B73DA7F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8" y="3225401"/>
            <a:ext cx="7772400" cy="33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4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1A24-C9AE-0F4E-560F-E2C7D12A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 Matrix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78556-1A5E-21F4-6E8F-81198E856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2" y="1433944"/>
            <a:ext cx="6380017" cy="5164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11A6D-7CC5-D5C8-F045-1E7B2E9C8C4B}"/>
              </a:ext>
            </a:extLst>
          </p:cNvPr>
          <p:cNvSpPr txBox="1"/>
          <p:nvPr/>
        </p:nvSpPr>
        <p:spPr>
          <a:xfrm>
            <a:off x="4000499" y="5538354"/>
            <a:ext cx="5217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Matrices with many empty observations are mathematically considered sparse.</a:t>
            </a:r>
          </a:p>
          <a:p>
            <a:r>
              <a:rPr lang="en-US" dirty="0">
                <a:latin typeface="Avenir Book" panose="02000503020000020003" pitchFamily="2" charset="0"/>
              </a:rPr>
              <a:t>e.g.. p(</a:t>
            </a:r>
            <a:r>
              <a:rPr lang="en-US" dirty="0" err="1">
                <a:latin typeface="Avenir Book" panose="02000503020000020003" pitchFamily="2" charset="0"/>
              </a:rPr>
              <a:t>astronaut|kangaroo</a:t>
            </a:r>
            <a:r>
              <a:rPr lang="en-US" dirty="0">
                <a:latin typeface="Avenir Book" panose="02000503020000020003" pitchFamily="2" charset="0"/>
              </a:rPr>
              <a:t>)</a:t>
            </a:r>
          </a:p>
          <a:p>
            <a:r>
              <a:rPr lang="en-US" dirty="0">
                <a:latin typeface="Avenir Book" panose="02000503020000020003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870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9A1-F22C-C226-B7D1-EFB90DF4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C7C5-D627-F540-C6E0-64C9E1BEB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Morpheme: smallest units of language that convey meaning</a:t>
            </a:r>
          </a:p>
          <a:p>
            <a:pPr lvl="1"/>
            <a:r>
              <a:rPr lang="en-US" dirty="0"/>
              <a:t>Free/Bound</a:t>
            </a:r>
          </a:p>
          <a:p>
            <a:pPr lvl="1"/>
            <a:r>
              <a:rPr lang="en-US" dirty="0"/>
              <a:t>Affixation (prefix, suffix)</a:t>
            </a:r>
          </a:p>
          <a:p>
            <a:pPr lvl="1"/>
            <a:r>
              <a:rPr lang="en-US" dirty="0"/>
              <a:t>Inflectional: change grammar, tense, plural (e.g., -s, -</a:t>
            </a:r>
            <a:r>
              <a:rPr lang="en-US" dirty="0" err="1"/>
              <a:t>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Derivational: (e.g., joy → enjoyment)</a:t>
            </a:r>
          </a:p>
          <a:p>
            <a:pPr lvl="1"/>
            <a:endParaRPr lang="en-US" dirty="0"/>
          </a:p>
          <a:p>
            <a:r>
              <a:rPr lang="en-US" dirty="0"/>
              <a:t>Lemma</a:t>
            </a:r>
          </a:p>
          <a:p>
            <a:pPr lvl="1"/>
            <a:r>
              <a:rPr lang="en-US" dirty="0"/>
              <a:t>root or dictionary form of a word, often uninflected</a:t>
            </a:r>
          </a:p>
          <a:p>
            <a:endParaRPr lang="en-US" dirty="0"/>
          </a:p>
          <a:p>
            <a:r>
              <a:rPr lang="en-US" dirty="0"/>
              <a:t>Morphological derivatives</a:t>
            </a:r>
          </a:p>
          <a:p>
            <a:pPr lvl="1"/>
            <a:r>
              <a:rPr lang="en-US" dirty="0"/>
              <a:t>Inflect the root and you have many possible derivatives of a word it</a:t>
            </a:r>
          </a:p>
          <a:p>
            <a:pPr lvl="1"/>
            <a:r>
              <a:rPr lang="en-US" dirty="0"/>
              <a:t>These derivatives are counted as entirely separate entries in frequency analyses. You might not want that.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5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D621-AF40-0ADC-08AD-6B37BDC7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17" y="0"/>
            <a:ext cx="8300720" cy="1143000"/>
          </a:xfrm>
        </p:spPr>
        <p:txBody>
          <a:bodyPr/>
          <a:lstStyle/>
          <a:p>
            <a:r>
              <a:rPr lang="en-US" dirty="0"/>
              <a:t>Lemmatization and 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0696-31D4-73D8-82C7-7618A0C6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Lemmatization</a:t>
            </a:r>
          </a:p>
          <a:p>
            <a:pPr lvl="1"/>
            <a:r>
              <a:rPr lang="en-US" dirty="0"/>
              <a:t>Converts are morphological derivatives of a word to their root form</a:t>
            </a:r>
          </a:p>
          <a:p>
            <a:pPr lvl="1"/>
            <a:r>
              <a:rPr lang="en-US" dirty="0"/>
              <a:t>E.g., runs, running, ran all lemmatized to </a:t>
            </a:r>
            <a:r>
              <a:rPr lang="en-US" i="1" dirty="0"/>
              <a:t>run</a:t>
            </a:r>
          </a:p>
          <a:p>
            <a:pPr lvl="1"/>
            <a:endParaRPr lang="en-US" i="1" dirty="0"/>
          </a:p>
          <a:p>
            <a:r>
              <a:rPr lang="en-US" i="1" dirty="0"/>
              <a:t>Stemming </a:t>
            </a:r>
          </a:p>
          <a:p>
            <a:pPr lvl="1"/>
            <a:r>
              <a:rPr lang="en-US" i="1" dirty="0"/>
              <a:t>A primitive form of lemmatization where you cut off suffixes and prefixes probabilistically leaving naked roots forms</a:t>
            </a:r>
          </a:p>
          <a:p>
            <a:pPr lvl="1"/>
            <a:r>
              <a:rPr lang="en-US" i="1" dirty="0" err="1"/>
              <a:t>E..g</a:t>
            </a:r>
            <a:r>
              <a:rPr lang="en-US" i="1" dirty="0"/>
              <a:t>., leaving → leave</a:t>
            </a:r>
          </a:p>
          <a:p>
            <a:pPr lvl="1"/>
            <a:endParaRPr lang="en-US" i="1" dirty="0"/>
          </a:p>
          <a:p>
            <a:r>
              <a:rPr lang="en-US" i="1" dirty="0"/>
              <a:t>Why </a:t>
            </a:r>
            <a:r>
              <a:rPr lang="en-US" dirty="0"/>
              <a:t>lemmatize?</a:t>
            </a:r>
          </a:p>
          <a:p>
            <a:pPr lvl="1"/>
            <a:r>
              <a:rPr lang="en-US" dirty="0"/>
              <a:t>Improve term aggregation</a:t>
            </a:r>
          </a:p>
          <a:p>
            <a:pPr lvl="2"/>
            <a:r>
              <a:rPr lang="en-US" dirty="0"/>
              <a:t>Grouping, counting, categorizing by keywords</a:t>
            </a:r>
          </a:p>
          <a:p>
            <a:pPr lvl="1"/>
            <a:r>
              <a:rPr lang="en-US" dirty="0"/>
              <a:t>More accurate picture of lexical variability</a:t>
            </a:r>
          </a:p>
        </p:txBody>
      </p:sp>
    </p:spTree>
    <p:extLst>
      <p:ext uri="{BB962C8B-B14F-4D97-AF65-F5344CB8AC3E}">
        <p14:creationId xmlns:p14="http://schemas.microsoft.com/office/powerpoint/2010/main" val="63768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BF4B-8A37-AC92-9946-160C236A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44" y="0"/>
            <a:ext cx="8300720" cy="1143000"/>
          </a:xfrm>
        </p:spPr>
        <p:txBody>
          <a:bodyPr/>
          <a:lstStyle/>
          <a:p>
            <a:r>
              <a:rPr lang="en-US" dirty="0" err="1"/>
              <a:t>Stopwords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E1F7-FCA8-8E08-22E0-FB4C79E3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NLP analyses, we omit </a:t>
            </a:r>
            <a:r>
              <a:rPr lang="en-US" dirty="0" err="1"/>
              <a:t>stopwords</a:t>
            </a:r>
            <a:endParaRPr lang="en-US" dirty="0"/>
          </a:p>
          <a:p>
            <a:pPr lvl="1"/>
            <a:r>
              <a:rPr lang="en-US" dirty="0"/>
              <a:t>Semantically empty but highly frequent and will overwhelm content words in most count analyses</a:t>
            </a:r>
          </a:p>
          <a:p>
            <a:pPr lvl="1"/>
            <a:endParaRPr lang="en-US" dirty="0"/>
          </a:p>
          <a:p>
            <a:r>
              <a:rPr lang="en-US" dirty="0"/>
              <a:t>Open class words (content words)</a:t>
            </a:r>
          </a:p>
          <a:p>
            <a:pPr lvl="1"/>
            <a:r>
              <a:rPr lang="en-US" dirty="0"/>
              <a:t>Nouns, verbs, adjectives, adverbs</a:t>
            </a:r>
          </a:p>
          <a:p>
            <a:pPr lvl="1"/>
            <a:endParaRPr lang="en-US" dirty="0"/>
          </a:p>
          <a:p>
            <a:r>
              <a:rPr lang="en-US" dirty="0"/>
              <a:t>Closed class words (function words)</a:t>
            </a:r>
          </a:p>
          <a:p>
            <a:pPr lvl="1"/>
            <a:r>
              <a:rPr lang="en-US" dirty="0"/>
              <a:t>Pronouns, prepositions, conjunctions, determiners</a:t>
            </a:r>
          </a:p>
          <a:p>
            <a:endParaRPr lang="en-US" dirty="0"/>
          </a:p>
          <a:p>
            <a:r>
              <a:rPr lang="en-US" dirty="0" err="1"/>
              <a:t>Stopwords</a:t>
            </a:r>
            <a:endParaRPr lang="en-US" dirty="0"/>
          </a:p>
          <a:p>
            <a:pPr lvl="1"/>
            <a:r>
              <a:rPr lang="en-US" dirty="0"/>
              <a:t>We created a custom list using POS tagging.</a:t>
            </a:r>
          </a:p>
          <a:p>
            <a:pPr lvl="1"/>
            <a:r>
              <a:rPr lang="en-US" dirty="0"/>
              <a:t>In R we pattern match a target text using regular expressions to search and replace </a:t>
            </a:r>
            <a:r>
              <a:rPr lang="en-US" dirty="0" err="1"/>
              <a:t>stopwords</a:t>
            </a:r>
            <a:r>
              <a:rPr lang="en-US" dirty="0"/>
              <a:t> with nothing….</a:t>
            </a:r>
          </a:p>
        </p:txBody>
      </p:sp>
    </p:spTree>
    <p:extLst>
      <p:ext uri="{BB962C8B-B14F-4D97-AF65-F5344CB8AC3E}">
        <p14:creationId xmlns:p14="http://schemas.microsoft.com/office/powerpoint/2010/main" val="104990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CF24-14E1-3E6F-D8C6-9C7D9E40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3" y="0"/>
            <a:ext cx="8300720" cy="1143000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395F-DDCA-43A8-675F-BD76009F5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no way to avoid writing functions in NLP</a:t>
            </a:r>
          </a:p>
          <a:p>
            <a:r>
              <a:rPr lang="en-US" dirty="0"/>
              <a:t>Format: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myfunc</a:t>
            </a:r>
            <a:r>
              <a:rPr lang="en-US" dirty="0"/>
              <a:t> &lt;- function(</a:t>
            </a:r>
            <a:r>
              <a:rPr lang="en-US" dirty="0" err="1"/>
              <a:t>mystring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x &lt;- </a:t>
            </a:r>
            <a:r>
              <a:rPr lang="en-US" dirty="0" err="1"/>
              <a:t>mystring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x &lt;- x %&gt;% </a:t>
            </a:r>
            <a:r>
              <a:rPr lang="en-US" dirty="0" err="1"/>
              <a:t>gsub</a:t>
            </a:r>
            <a:r>
              <a:rPr lang="en-US" dirty="0"/>
              <a:t>("[[:</a:t>
            </a:r>
            <a:r>
              <a:rPr lang="en-US" dirty="0" err="1"/>
              <a:t>punct</a:t>
            </a:r>
            <a:r>
              <a:rPr lang="en-US" dirty="0"/>
              <a:t>:]]”, “”)</a:t>
            </a:r>
          </a:p>
          <a:p>
            <a:pPr marL="0" indent="0">
              <a:buNone/>
            </a:pPr>
            <a:r>
              <a:rPr lang="en-US" dirty="0"/>
              <a:t>return(x)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few functions you might find useful</a:t>
            </a:r>
          </a:p>
          <a:p>
            <a:pPr marL="0" indent="0">
              <a:buNone/>
            </a:pPr>
            <a:r>
              <a:rPr lang="en-US" dirty="0"/>
              <a:t>	e.g., sub out a </a:t>
            </a:r>
            <a:r>
              <a:rPr lang="en-US" dirty="0" err="1"/>
              <a:t>stopword</a:t>
            </a:r>
            <a:r>
              <a:rPr lang="en-US" dirty="0"/>
              <a:t> from a text sample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30EA-C75D-AD48-3BC8-D783C39E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(regex)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A1EE-B0DA-D8F8-B7A8-887053134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YouTube Tutorial</a:t>
            </a:r>
            <a:endParaRPr lang="en-US" dirty="0"/>
          </a:p>
          <a:p>
            <a:r>
              <a:rPr lang="en-US" dirty="0">
                <a:hlinkClick r:id="rId3"/>
              </a:rPr>
              <a:t>Link to stringr introduction and cheatsheet </a:t>
            </a:r>
            <a:endParaRPr lang="en-US" dirty="0"/>
          </a:p>
          <a:p>
            <a:endParaRPr lang="en-US" dirty="0"/>
          </a:p>
          <a:p>
            <a:r>
              <a:rPr lang="en-US" dirty="0"/>
              <a:t>1950s Stephen Kleene</a:t>
            </a:r>
          </a:p>
          <a:p>
            <a:pPr lvl="1"/>
            <a:r>
              <a:rPr lang="en-US" dirty="0"/>
              <a:t>Algebraic notation for modeling nervous system behavior</a:t>
            </a:r>
          </a:p>
          <a:p>
            <a:pPr lvl="1"/>
            <a:r>
              <a:rPr lang="en-US" dirty="0"/>
              <a:t>Adopted by computer science for string matching</a:t>
            </a:r>
          </a:p>
          <a:p>
            <a:pPr lvl="1"/>
            <a:endParaRPr lang="en-US" dirty="0"/>
          </a:p>
          <a:p>
            <a:r>
              <a:rPr lang="en-US" dirty="0"/>
              <a:t>Literal characters (e.g., search ‘e’ in ’pets are fun’)</a:t>
            </a:r>
          </a:p>
          <a:p>
            <a:pPr lvl="1"/>
            <a:r>
              <a:rPr lang="en-US" dirty="0"/>
              <a:t>[\^$.|?*+()</a:t>
            </a:r>
          </a:p>
          <a:p>
            <a:pPr lvl="1"/>
            <a:r>
              <a:rPr lang="en-US" dirty="0"/>
              <a:t>Must ‘escape’ with \ to search a special character</a:t>
            </a:r>
          </a:p>
          <a:p>
            <a:pPr lvl="1"/>
            <a:endParaRPr lang="en-US" dirty="0"/>
          </a:p>
          <a:p>
            <a:r>
              <a:rPr lang="en-US" dirty="0"/>
              <a:t>Character sets</a:t>
            </a:r>
          </a:p>
          <a:p>
            <a:pPr lvl="1"/>
            <a:r>
              <a:rPr lang="en-US" dirty="0"/>
              <a:t>g[</a:t>
            </a:r>
            <a:r>
              <a:rPr lang="en-US" dirty="0" err="1"/>
              <a:t>eo</a:t>
            </a:r>
            <a:r>
              <a:rPr lang="en-US" dirty="0"/>
              <a:t>]t will retrieve ‘get’ or ‘got’ one time only!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7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8F5F-AC81-A7F0-5791-95C4EBE7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BD4E-347E-7DAC-D359-45833159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Ranges (hyphen)</a:t>
            </a:r>
          </a:p>
          <a:p>
            <a:pPr lvl="1"/>
            <a:r>
              <a:rPr lang="en-US" dirty="0"/>
              <a:t>[0-9] matches a single digit from 0 to 9</a:t>
            </a:r>
          </a:p>
          <a:p>
            <a:pPr lvl="1"/>
            <a:endParaRPr lang="en-US" dirty="0"/>
          </a:p>
          <a:p>
            <a:r>
              <a:rPr lang="en-US" dirty="0"/>
              <a:t>Anchors (match positions in string)</a:t>
            </a:r>
          </a:p>
          <a:p>
            <a:pPr lvl="1"/>
            <a:r>
              <a:rPr lang="en-US" dirty="0"/>
              <a:t>^ start of a string</a:t>
            </a:r>
          </a:p>
          <a:p>
            <a:pPr lvl="1"/>
            <a:r>
              <a:rPr lang="en-US" dirty="0"/>
              <a:t>$ end of a string</a:t>
            </a:r>
          </a:p>
          <a:p>
            <a:pPr lvl="1"/>
            <a:r>
              <a:rPr lang="en-US" dirty="0"/>
              <a:t>\b word boundary</a:t>
            </a:r>
          </a:p>
          <a:p>
            <a:pPr lvl="1"/>
            <a:endParaRPr lang="en-US" dirty="0"/>
          </a:p>
          <a:p>
            <a:r>
              <a:rPr lang="en-US" dirty="0"/>
              <a:t>Alternation (or)</a:t>
            </a:r>
          </a:p>
          <a:p>
            <a:pPr lvl="1"/>
            <a:r>
              <a:rPr lang="en-US" dirty="0" err="1"/>
              <a:t>cat|dog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Repetition</a:t>
            </a:r>
          </a:p>
          <a:p>
            <a:pPr lvl="1"/>
            <a:r>
              <a:rPr lang="en-US" dirty="0"/>
              <a:t>* match a character 0 or more times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4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D6DE-087D-770E-A0FE-C95104AC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0ED4-0653-A0C6-91E2-3850A2C9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20467"/>
      </p:ext>
    </p:extLst>
  </p:cSld>
  <p:clrMapOvr>
    <a:masterClrMapping/>
  </p:clrMapOvr>
</p:sld>
</file>

<file path=ppt/theme/theme1.xml><?xml version="1.0" encoding="utf-8"?>
<a:theme xmlns:a="http://schemas.openxmlformats.org/drawingml/2006/main" name="JamieLab2014">
  <a:themeElements>
    <a:clrScheme name="Custom 12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1E4649"/>
      </a:accent1>
      <a:accent2>
        <a:srgbClr val="333399"/>
      </a:accent2>
      <a:accent3>
        <a:srgbClr val="7F7F7F"/>
      </a:accent3>
      <a:accent4>
        <a:srgbClr val="000000"/>
      </a:accent4>
      <a:accent5>
        <a:srgbClr val="1E4649"/>
      </a:accent5>
      <a:accent6>
        <a:srgbClr val="2D2D8A"/>
      </a:accent6>
      <a:hlink>
        <a:srgbClr val="4C6600"/>
      </a:hlink>
      <a:folHlink>
        <a:srgbClr val="4C6600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eillyLab_PPT_Template2023" id="{EA144983-4EF0-B240-B402-90F1FABCEB97}" vid="{DA12C4F5-4615-6241-BC5C-5773BA26D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JamieLab2014</Template>
  <TotalTime>1748</TotalTime>
  <Words>895</Words>
  <Application>Microsoft Macintosh PowerPoint</Application>
  <PresentationFormat>On-screen Show (4:3)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</vt:lpstr>
      <vt:lpstr>Avenir Book</vt:lpstr>
      <vt:lpstr>Calibri</vt:lpstr>
      <vt:lpstr>Myriad Pro</vt:lpstr>
      <vt:lpstr>JamieLab2014</vt:lpstr>
      <vt:lpstr>PowerPoint Presentation</vt:lpstr>
      <vt:lpstr>Reminders!</vt:lpstr>
      <vt:lpstr>HW for Class 2!</vt:lpstr>
      <vt:lpstr>Terminology</vt:lpstr>
      <vt:lpstr>More Terminology</vt:lpstr>
      <vt:lpstr>Corpora and where to find them</vt:lpstr>
      <vt:lpstr>More Terminology</vt:lpstr>
      <vt:lpstr>Document Term Matrix (DTM) or Feature Matrix (DFM)</vt:lpstr>
      <vt:lpstr>Co-Occurrence Matrix</vt:lpstr>
      <vt:lpstr>More Terminology</vt:lpstr>
      <vt:lpstr>Lemmatization and Stemming</vt:lpstr>
      <vt:lpstr>Stopwords</vt:lpstr>
      <vt:lpstr>Functions</vt:lpstr>
      <vt:lpstr>Regular Expressions (regex)</vt:lpstr>
      <vt:lpstr>More Regex</vt:lpstr>
      <vt:lpstr>POS Tagging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Reilly</dc:creator>
  <cp:lastModifiedBy>Jamie Reilly</cp:lastModifiedBy>
  <cp:revision>2</cp:revision>
  <cp:lastPrinted>2018-11-26T14:05:20Z</cp:lastPrinted>
  <dcterms:created xsi:type="dcterms:W3CDTF">2026-01-15T13:39:32Z</dcterms:created>
  <dcterms:modified xsi:type="dcterms:W3CDTF">2026-01-19T17:30:02Z</dcterms:modified>
</cp:coreProperties>
</file>